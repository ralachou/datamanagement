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A632-711D-359C-0A6F-DA0AD4EF6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1B2D5-59CF-2547-599E-B22250E0B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D999A-02E1-AAE4-B3DF-A1BA59D3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BD47-3531-91C2-FC79-1F3CF67E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AF0B-9722-8B23-F4D4-6F6AF0E6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1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D7B1-0808-A0A0-18B8-06C87C89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84379-81C0-9290-5E1B-494B212B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2FABF-DED7-A135-3404-1F48A07B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E399C-F917-3A84-8810-CD79047C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F804-72C5-3FCC-0628-E5862528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3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6518-335C-F78D-A244-125B0F77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C0547-722F-8EA0-B2F6-F5ED9B1FA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3D5C4-14F2-2CA5-DE0F-D7011D68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884B2-1AC9-F46D-8250-E3299566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EC2B2-942E-63AB-4C1A-BFC5109F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78DF-F077-E36F-C330-494340DC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F44D-8B04-FF6D-5BFE-19CD482AB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ABD91-7941-ABA2-682C-81ABC785B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E07E8-8C20-BA12-293A-0CF43AC9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40813-7C6A-BE79-E08B-3AA483FA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62D76-1FC1-9F70-FFF7-9EC4F6C9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2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549F-3692-F8BB-CB5D-66BB005B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0C4D1-7F2B-B99D-1990-6DBFF1C7B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91FF5-B747-E65E-1B27-EB9B336BE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F851D-635B-3109-F788-A265E7E3D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6CE72-6A0F-0EE8-A981-7C20D5D05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9AEA3-2A5A-A5D9-FA71-F194A16F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BCC9C-9C2F-F4B3-7AC9-B722BA65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E73C5-1DFF-8A62-96F1-EC1FEE2C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6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6BC8-5F2F-C78A-0FE0-51E0F972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8FE30-711F-2C71-8E48-B8E8040A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99918-BD9E-ABA5-D9D6-2D2A4FF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D6F42-3ECF-D070-822C-9F3AB4DE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1E4B7-63C5-DE63-1625-683F675F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852F8-19AA-5CC5-EF33-D7382895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29942-C202-39DB-5DF9-DA25887A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6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83E-84A8-5EA8-2D3B-7C6FA1AF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E17-3FCE-D171-0D57-DCB3C5E2B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7DE58-B7AA-EB7B-D4E0-0C4C5DC06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6EBD5-0C4F-DF40-8F5A-AF594DE8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0F997-746C-63C4-BEE5-BA862BC9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C4E40-009B-0AF3-A004-46C62DC6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2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B4A7-80CF-AC1B-75CD-749AB54F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4CC52-A543-E29F-AE3C-AC1515342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CBEEE-28ED-3DBF-B33F-FA1C1356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EF19E-4F27-F275-FD79-6AABA141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1A3BC-B03D-4C77-A886-7EFB2FFE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FD984-7F64-6BE2-35DB-D5AE5CBF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5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13A9-6B01-83EE-F385-AB74C13F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1F017-ED7A-9060-32D3-614A920B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25D77-09FA-E257-0807-8D1EFA5A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C6E5E-B81F-5E27-369C-750082FE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B729-0BBE-6BC1-6233-49161AE1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8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3EDC7-F28F-BE6E-FE66-A7156CDC7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A21CF-04E1-1BC7-9B13-487659A93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7120-EC54-05D3-1AE0-DA27A4EA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C09CB-5A87-0CD9-30D4-DC922B8A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0068-93D9-A042-2F95-448D0076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1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EFCAB-95F7-249C-5152-1A4FED6A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06E5-4052-4D55-4E79-B1F86A532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2BB91-92D8-1378-38D6-278908762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6096A-2A65-4416-9EC7-FE9832A6FA4D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02ADE-566A-FDDF-1044-68A3AB620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BCDD3-2C40-E795-6F75-51287007E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17E47-83A7-45AE-93BE-DE163C20A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7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E131-9D71-8FB1-92F7-A372D0B4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124" y="365126"/>
            <a:ext cx="9693676" cy="46937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C9B-958E-ABDA-1F31-F2E99BFC5BFC}"/>
              </a:ext>
            </a:extLst>
          </p:cNvPr>
          <p:cNvSpPr txBox="1"/>
          <p:nvPr/>
        </p:nvSpPr>
        <p:spPr>
          <a:xfrm>
            <a:off x="603682" y="1482571"/>
            <a:ext cx="100495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public Map&lt;String, Catalog&gt; </a:t>
            </a:r>
            <a:r>
              <a:rPr lang="en-US" dirty="0" err="1"/>
              <a:t>listCatalogs</a:t>
            </a:r>
            <a:r>
              <a:rPr lang="en-US" dirty="0"/>
              <a:t>() {</a:t>
            </a:r>
          </a:p>
          <a:p>
            <a:r>
              <a:rPr lang="en-US" dirty="0"/>
              <a:t>        String </a:t>
            </a:r>
            <a:r>
              <a:rPr lang="en-US" dirty="0" err="1"/>
              <a:t>json</a:t>
            </a:r>
            <a:r>
              <a:rPr lang="en-US" dirty="0"/>
              <a:t> = </a:t>
            </a:r>
            <a:r>
              <a:rPr lang="en-US" dirty="0" err="1"/>
              <a:t>this.api.callAPI</a:t>
            </a:r>
            <a:r>
              <a:rPr lang="en-US" dirty="0"/>
              <a:t>(</a:t>
            </a:r>
            <a:r>
              <a:rPr lang="en-US" dirty="0" err="1"/>
              <a:t>rootURL.concat</a:t>
            </a:r>
            <a:r>
              <a:rPr lang="en-US" dirty="0"/>
              <a:t>("catalogs"));</a:t>
            </a:r>
          </a:p>
          <a:p>
            <a:r>
              <a:rPr lang="en-US" dirty="0"/>
              <a:t>        return </a:t>
            </a:r>
            <a:r>
              <a:rPr lang="en-US" dirty="0" err="1"/>
              <a:t>responseParser.parseCatalogResponse</a:t>
            </a:r>
            <a:r>
              <a:rPr lang="en-US" dirty="0"/>
              <a:t>(</a:t>
            </a:r>
            <a:r>
              <a:rPr lang="en-US" dirty="0" err="1"/>
              <a:t>json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public Map&lt;String, </a:t>
            </a:r>
            <a:r>
              <a:rPr lang="en-US" dirty="0" err="1"/>
              <a:t>DataProduct</a:t>
            </a:r>
            <a:r>
              <a:rPr lang="en-US" dirty="0"/>
              <a:t>&gt; </a:t>
            </a:r>
            <a:r>
              <a:rPr lang="en-US" dirty="0" err="1"/>
              <a:t>listProducts</a:t>
            </a:r>
            <a:r>
              <a:rPr lang="en-US" dirty="0"/>
              <a:t>(String </a:t>
            </a:r>
            <a:r>
              <a:rPr lang="en-US" dirty="0" err="1"/>
              <a:t>catalogName</a:t>
            </a:r>
            <a:r>
              <a:rPr lang="en-US" dirty="0"/>
              <a:t>, String contains,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idContains</a:t>
            </a:r>
            <a:r>
              <a:rPr lang="en-US" dirty="0"/>
              <a:t>) {</a:t>
            </a:r>
          </a:p>
          <a:p>
            <a:r>
              <a:rPr lang="en-US" dirty="0"/>
              <a:t>        // TODO: unimplemented logic implied by the method parameters</a:t>
            </a:r>
          </a:p>
          <a:p>
            <a:r>
              <a:rPr lang="en-US" dirty="0"/>
              <a:t>        String </a:t>
            </a:r>
            <a:r>
              <a:rPr lang="en-US" dirty="0" err="1"/>
              <a:t>url</a:t>
            </a:r>
            <a:r>
              <a:rPr lang="en-US" dirty="0"/>
              <a:t> = </a:t>
            </a:r>
            <a:r>
              <a:rPr lang="en-US" dirty="0" err="1"/>
              <a:t>String.format</a:t>
            </a:r>
            <a:r>
              <a:rPr lang="en-US" dirty="0"/>
              <a:t>("%1scatalogs/%2s/products", </a:t>
            </a:r>
            <a:r>
              <a:rPr lang="en-US" dirty="0" err="1"/>
              <a:t>this.rootURL</a:t>
            </a:r>
            <a:r>
              <a:rPr lang="en-US" dirty="0"/>
              <a:t>, </a:t>
            </a:r>
            <a:r>
              <a:rPr lang="en-US" dirty="0" err="1"/>
              <a:t>catalogName</a:t>
            </a:r>
            <a:r>
              <a:rPr lang="en-US" dirty="0"/>
              <a:t>);</a:t>
            </a:r>
          </a:p>
          <a:p>
            <a:r>
              <a:rPr lang="en-US" dirty="0"/>
              <a:t>        String </a:t>
            </a:r>
            <a:r>
              <a:rPr lang="en-US" dirty="0" err="1"/>
              <a:t>json</a:t>
            </a:r>
            <a:r>
              <a:rPr lang="en-US" dirty="0"/>
              <a:t> = </a:t>
            </a:r>
            <a:r>
              <a:rPr lang="en-US" dirty="0" err="1"/>
              <a:t>this.api.callAPI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);</a:t>
            </a:r>
          </a:p>
          <a:p>
            <a:r>
              <a:rPr lang="en-US" dirty="0"/>
              <a:t>        return </a:t>
            </a:r>
            <a:r>
              <a:rPr lang="en-US" dirty="0" err="1"/>
              <a:t>responseParser.parseDataProductResponse</a:t>
            </a:r>
            <a:r>
              <a:rPr lang="en-US" dirty="0"/>
              <a:t>(</a:t>
            </a:r>
            <a:r>
              <a:rPr lang="en-US" dirty="0" err="1"/>
              <a:t>json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public Map&lt;String, </a:t>
            </a:r>
            <a:r>
              <a:rPr lang="en-US" dirty="0" err="1"/>
              <a:t>DataProduct</a:t>
            </a:r>
            <a:r>
              <a:rPr lang="en-US" dirty="0"/>
              <a:t>&gt; </a:t>
            </a:r>
            <a:r>
              <a:rPr lang="en-US" dirty="0" err="1"/>
              <a:t>listProducts</a:t>
            </a:r>
            <a:r>
              <a:rPr lang="en-US" dirty="0"/>
              <a:t>(String </a:t>
            </a:r>
            <a:r>
              <a:rPr lang="en-US" dirty="0" err="1"/>
              <a:t>catalogName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    return </a:t>
            </a:r>
            <a:r>
              <a:rPr lang="en-US" dirty="0" err="1"/>
              <a:t>listProducts</a:t>
            </a:r>
            <a:r>
              <a:rPr lang="en-US" dirty="0"/>
              <a:t>(</a:t>
            </a:r>
            <a:r>
              <a:rPr lang="en-US" dirty="0" err="1"/>
              <a:t>catalogName</a:t>
            </a:r>
            <a:r>
              <a:rPr lang="en-US" dirty="0"/>
              <a:t>, null, false);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19133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7CBE4B-B7DA-B8A7-47A5-A4DBAB21E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82" y="365125"/>
            <a:ext cx="5988728" cy="540397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 MDSOR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A4938-1EE3-73F2-F8C7-AA2A04980DE9}"/>
              </a:ext>
            </a:extLst>
          </p:cNvPr>
          <p:cNvSpPr txBox="1"/>
          <p:nvPr/>
        </p:nvSpPr>
        <p:spPr>
          <a:xfrm>
            <a:off x="607381" y="835641"/>
            <a:ext cx="959306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MDSOR </a:t>
            </a:r>
            <a:r>
              <a:rPr lang="en-US" dirty="0" err="1"/>
              <a:t>mdsor</a:t>
            </a:r>
            <a:r>
              <a:rPr lang="en-US" dirty="0"/>
              <a:t>  = </a:t>
            </a:r>
            <a:r>
              <a:rPr lang="en-US" dirty="0" err="1"/>
              <a:t>MDSOR.builder</a:t>
            </a:r>
            <a:r>
              <a:rPr lang="en-US" dirty="0"/>
              <a:t>(). configuration(</a:t>
            </a:r>
            <a:r>
              <a:rPr lang="en-US" dirty="0" err="1"/>
              <a:t>MDSORConfig</a:t>
            </a:r>
            <a:r>
              <a:rPr lang="en-US" dirty="0"/>
              <a:t>).build()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      #List catalogs </a:t>
            </a:r>
            <a:r>
              <a:rPr lang="en-US" dirty="0"/>
              <a:t>(catalog, which is a container and inventory of datasets) </a:t>
            </a:r>
          </a:p>
          <a:p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Map&lt;String, Catalog&gt; catalogs = </a:t>
            </a:r>
            <a:r>
              <a:rPr lang="en-US" dirty="0" err="1"/>
              <a:t>mdsor</a:t>
            </a:r>
            <a:r>
              <a:rPr lang="en-US" altLang="en-US" dirty="0" err="1">
                <a:solidFill>
                  <a:srgbClr val="1F2328"/>
                </a:solidFill>
                <a:latin typeface="Monaspace Neon"/>
              </a:rPr>
              <a:t>.</a:t>
            </a:r>
            <a:r>
              <a:rPr lang="en-US" altLang="en-US" dirty="0" err="1">
                <a:solidFill>
                  <a:srgbClr val="6639BA"/>
                </a:solidFill>
                <a:latin typeface="Monaspace Neon"/>
              </a:rPr>
              <a:t>listCatalogs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();</a:t>
            </a:r>
          </a:p>
          <a:p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Monaspace Neon"/>
            </a:endParaRPr>
          </a:p>
          <a:p>
            <a:r>
              <a:rPr lang="en-US" b="1" dirty="0"/>
              <a:t>List datasets</a:t>
            </a:r>
            <a:br>
              <a:rPr lang="en-US" dirty="0"/>
            </a:b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Map&lt;String, Dataset&gt; datasets = </a:t>
            </a:r>
            <a:r>
              <a:rPr lang="en-US" dirty="0" err="1"/>
              <a:t>mdsor</a:t>
            </a:r>
            <a:r>
              <a:rPr lang="en-US" altLang="en-US" dirty="0" err="1">
                <a:solidFill>
                  <a:srgbClr val="1F2328"/>
                </a:solidFill>
                <a:latin typeface="Monaspace Neon"/>
              </a:rPr>
              <a:t>.</a:t>
            </a:r>
            <a:r>
              <a:rPr lang="en-US" altLang="en-US" dirty="0" err="1">
                <a:solidFill>
                  <a:srgbClr val="6639BA"/>
                </a:solidFill>
                <a:latin typeface="Monaspace Neon"/>
              </a:rPr>
              <a:t>listDatasets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(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“FX"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br>
              <a:rPr lang="en-US" dirty="0"/>
            </a:br>
            <a:r>
              <a:rPr lang="en-US" b="1" dirty="0">
                <a:effectLst/>
              </a:rPr>
              <a:t>Display the attributes for a dataset </a:t>
            </a: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Map&lt;String, Attribute&gt; attributes = </a:t>
            </a:r>
            <a:r>
              <a:rPr lang="en-US" dirty="0" err="1"/>
              <a:t>mdsor</a:t>
            </a:r>
            <a:r>
              <a:rPr lang="en-US" altLang="en-US" dirty="0" err="1">
                <a:solidFill>
                  <a:srgbClr val="1F2328"/>
                </a:solidFill>
                <a:latin typeface="Monaspace Neon"/>
              </a:rPr>
              <a:t>.</a:t>
            </a:r>
            <a:r>
              <a:rPr lang="en-US" altLang="en-US" dirty="0" err="1">
                <a:solidFill>
                  <a:srgbClr val="6639BA"/>
                </a:solidFill>
                <a:latin typeface="Monaspace Neon"/>
              </a:rPr>
              <a:t>listAttributes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(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 FX 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, 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</a:t>
            </a:r>
            <a:r>
              <a:rPr lang="en-US" altLang="en-US" dirty="0">
                <a:solidFill>
                  <a:srgbClr val="BA2121"/>
                </a:solidFill>
                <a:latin typeface="Roboto Mono" panose="020F0502020204030204" pitchFamily="49" charset="0"/>
              </a:rPr>
              <a:t> FXO_SP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Display the available distributions for a file</a:t>
            </a:r>
          </a:p>
          <a:p>
            <a:br>
              <a:rPr lang="en-US" dirty="0"/>
            </a:br>
            <a:r>
              <a:rPr lang="en-US" dirty="0"/>
              <a:t>Download as a file</a:t>
            </a:r>
          </a:p>
          <a:p>
            <a:r>
              <a:rPr lang="en-US" altLang="en-US" dirty="0" err="1">
                <a:solidFill>
                  <a:srgbClr val="1F2328"/>
                </a:solidFill>
                <a:latin typeface="Monaspace Neon"/>
              </a:rPr>
              <a:t>MDSOR.</a:t>
            </a:r>
            <a:r>
              <a:rPr lang="en-US" altLang="en-US" dirty="0" err="1">
                <a:solidFill>
                  <a:srgbClr val="6639BA"/>
                </a:solidFill>
                <a:latin typeface="Monaspace Neon"/>
              </a:rPr>
              <a:t>download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(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 FX 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, 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</a:t>
            </a:r>
            <a:r>
              <a:rPr lang="en-US" altLang="en-US" dirty="0">
                <a:solidFill>
                  <a:srgbClr val="BA2121"/>
                </a:solidFill>
                <a:latin typeface="Roboto Mono" panose="020F0502020204030204" pitchFamily="49" charset="0"/>
              </a:rPr>
              <a:t> FXO_SP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, 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“</a:t>
            </a:r>
            <a:r>
              <a:rPr lang="en-US" altLang="en-US" dirty="0" err="1">
                <a:solidFill>
                  <a:srgbClr val="0A3069"/>
                </a:solidFill>
                <a:latin typeface="Monaspace Neon"/>
              </a:rPr>
              <a:t>StartDate:EndDate</a:t>
            </a:r>
            <a:r>
              <a:rPr lang="en-US" altLang="en-US" dirty="0">
                <a:solidFill>
                  <a:srgbClr val="0A3069"/>
                </a:solidFill>
                <a:latin typeface="Monaspace Neon"/>
              </a:rPr>
              <a:t>"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dataset_format</a:t>
            </a:r>
            <a:r>
              <a:rPr lang="en-US" altLang="en-US" dirty="0">
                <a:latin typeface="Arial" panose="020B0604020202020204" pitchFamily="34" charset="0"/>
              </a:rPr>
              <a:t> 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Roboto Mono" panose="00000009000000000000" pitchFamily="49" charset="0"/>
              </a:rPr>
              <a:t>"csv"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, </a:t>
            </a:r>
            <a:br>
              <a:rPr lang="en-US" dirty="0"/>
            </a:br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columns=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[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</a:t>
            </a:r>
            <a:r>
              <a:rPr lang="en-US" altLang="en-US" dirty="0" err="1">
                <a:solidFill>
                  <a:srgbClr val="BA2121"/>
                </a:solidFill>
                <a:latin typeface="Roboto Mono" panose="00000009000000000000" pitchFamily="49" charset="0"/>
              </a:rPr>
              <a:t>currency_pair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,</a:t>
            </a:r>
            <a:r>
              <a:rPr lang="en-US" altLang="en-US" dirty="0">
                <a:solidFill>
                  <a:srgbClr val="36464E"/>
                </a:solidFill>
                <a:latin typeface="Roboto Mono" panose="00000009000000000000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"date"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,</a:t>
            </a:r>
            <a:r>
              <a:rPr lang="en-US" altLang="en-US" dirty="0">
                <a:solidFill>
                  <a:srgbClr val="36464E"/>
                </a:solidFill>
                <a:latin typeface="Roboto Mono" panose="00000009000000000000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</a:t>
            </a:r>
            <a:r>
              <a:rPr lang="en-US" altLang="en-US" dirty="0" err="1">
                <a:solidFill>
                  <a:srgbClr val="BA2121"/>
                </a:solidFill>
                <a:latin typeface="Roboto Mono" panose="00000009000000000000" pitchFamily="49" charset="0"/>
              </a:rPr>
              <a:t>fx_rate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,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en-US" dirty="0">
                <a:solidFill>
                  <a:srgbClr val="1F2328"/>
                </a:solidFill>
                <a:latin typeface="Monaspace Neon"/>
              </a:rPr>
              <a:t>filters=[("</a:t>
            </a:r>
            <a:r>
              <a:rPr lang="en-US" altLang="en-US" dirty="0" err="1">
                <a:solidFill>
                  <a:srgbClr val="BA2121"/>
                </a:solidFill>
                <a:latin typeface="Roboto Mono" panose="00000009000000000000" pitchFamily="49" charset="0"/>
              </a:rPr>
              <a:t>currency_pair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,</a:t>
            </a:r>
            <a:r>
              <a:rPr lang="en-US" altLang="en-US" dirty="0">
                <a:solidFill>
                  <a:srgbClr val="36464E"/>
                </a:solidFill>
                <a:latin typeface="Roboto Mono" panose="00000009000000000000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"="</a:t>
            </a:r>
            <a:r>
              <a:rPr lang="en-US" altLang="en-US" dirty="0">
                <a:solidFill>
                  <a:srgbClr val="0055AA"/>
                </a:solidFill>
                <a:latin typeface="Roboto Mono" panose="00000009000000000000" pitchFamily="49" charset="0"/>
              </a:rPr>
              <a:t>,</a:t>
            </a:r>
            <a:r>
              <a:rPr lang="en-US" altLang="en-US" dirty="0">
                <a:solidFill>
                  <a:srgbClr val="36464E"/>
                </a:solidFill>
                <a:latin typeface="Roboto Mono" panose="00000009000000000000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Roboto Mono" panose="00000009000000000000" pitchFamily="49" charset="0"/>
              </a:rPr>
              <a:t>"GBPUSD"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4F9992B-C6F4-36D8-C359-395D4854C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19125FD8-6C20-9D29-A5FB-0FECD2D4F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5845"/>
            <a:ext cx="184731" cy="7488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DE3C2A83-47D6-319A-2BE7-044E7C310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5845"/>
            <a:ext cx="184731" cy="7488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5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29D630-E5E4-CAEA-1084-FD53AE159B0B}"/>
              </a:ext>
            </a:extLst>
          </p:cNvPr>
          <p:cNvSpPr txBox="1"/>
          <p:nvPr/>
        </p:nvSpPr>
        <p:spPr>
          <a:xfrm>
            <a:off x="346228" y="328474"/>
            <a:ext cx="833613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/**</a:t>
            </a:r>
          </a:p>
          <a:p>
            <a:r>
              <a:rPr lang="en-US" sz="1200" dirty="0"/>
              <a:t> * An object representing a MDSOR catalog, which is a container and inventory of datasets.</a:t>
            </a:r>
          </a:p>
          <a:p>
            <a:r>
              <a:rPr lang="en-US" sz="1200" dirty="0"/>
              <a:t> */</a:t>
            </a:r>
          </a:p>
          <a:p>
            <a:r>
              <a:rPr lang="en-US" sz="1200" dirty="0"/>
              <a:t>@Value</a:t>
            </a:r>
          </a:p>
          <a:p>
            <a:r>
              <a:rPr lang="en-US" sz="1200" dirty="0"/>
              <a:t>@EqualsAndHashCode(callSuper = true)</a:t>
            </a:r>
          </a:p>
          <a:p>
            <a:r>
              <a:rPr lang="en-US" sz="1200" dirty="0"/>
              <a:t>@ToString(callSuper = true)</a:t>
            </a:r>
          </a:p>
          <a:p>
            <a:r>
              <a:rPr lang="en-US" sz="1200" dirty="0"/>
              <a:t>public class Catalog extends </a:t>
            </a:r>
            <a:r>
              <a:rPr lang="en-US" sz="1200" dirty="0" err="1"/>
              <a:t>CatalogResource</a:t>
            </a:r>
            <a:r>
              <a:rPr lang="en-US" sz="1200" dirty="0"/>
              <a:t> {</a:t>
            </a:r>
          </a:p>
          <a:p>
            <a:endParaRPr lang="en-US" sz="1200" dirty="0"/>
          </a:p>
          <a:p>
            <a:r>
              <a:rPr lang="en-US" sz="1200" dirty="0"/>
              <a:t>    String description;</a:t>
            </a:r>
          </a:p>
          <a:p>
            <a:r>
              <a:rPr lang="en-US" sz="1200" dirty="0"/>
              <a:t>    @SerializedName(value = "@id")</a:t>
            </a:r>
          </a:p>
          <a:p>
            <a:r>
              <a:rPr lang="en-US" sz="1200" dirty="0"/>
              <a:t>    String </a:t>
            </a:r>
            <a:r>
              <a:rPr lang="en-US" sz="1200" dirty="0" err="1"/>
              <a:t>linkedEntity</a:t>
            </a:r>
            <a:r>
              <a:rPr lang="en-US" sz="1200" dirty="0"/>
              <a:t>;</a:t>
            </a:r>
          </a:p>
          <a:p>
            <a:r>
              <a:rPr lang="en-US" sz="1200" dirty="0"/>
              <a:t>    String title;</a:t>
            </a:r>
          </a:p>
          <a:p>
            <a:r>
              <a:rPr lang="en-US" sz="1200" dirty="0"/>
              <a:t>    Boolean </a:t>
            </a:r>
            <a:r>
              <a:rPr lang="en-US" sz="1200" dirty="0" err="1"/>
              <a:t>isInternal</a:t>
            </a:r>
            <a:r>
              <a:rPr lang="en-US" sz="1200" dirty="0"/>
              <a:t>;</a:t>
            </a:r>
          </a:p>
          <a:p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@Builder</a:t>
            </a:r>
          </a:p>
          <a:p>
            <a:r>
              <a:rPr lang="en-US" sz="1200" dirty="0"/>
              <a:t>    public Catalog(</a:t>
            </a:r>
          </a:p>
          <a:p>
            <a:r>
              <a:rPr lang="en-US" sz="1200" dirty="0"/>
              <a:t>            @Builder.ObtainVia(method = "</a:t>
            </a:r>
            <a:r>
              <a:rPr lang="en-US" sz="1200" dirty="0" err="1"/>
              <a:t>getIdentifier</a:t>
            </a:r>
            <a:r>
              <a:rPr lang="en-US" sz="1200" dirty="0"/>
              <a:t>") String identifier,</a:t>
            </a:r>
          </a:p>
          <a:p>
            <a:r>
              <a:rPr lang="en-US" sz="1200" dirty="0"/>
              <a:t>            @Builder.ObtainVia(method = "</a:t>
            </a:r>
            <a:r>
              <a:rPr lang="en-US" sz="1200" dirty="0" err="1"/>
              <a:t>getVarArgs</a:t>
            </a:r>
            <a:r>
              <a:rPr lang="en-US" sz="1200" dirty="0"/>
              <a:t>") Map&lt;String, Object&gt; </a:t>
            </a:r>
            <a:r>
              <a:rPr lang="en-US" sz="1200" dirty="0" err="1"/>
              <a:t>varArgs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@Builder.ObtainVia(method = "</a:t>
            </a:r>
            <a:r>
              <a:rPr lang="en-US" sz="1200" dirty="0" err="1"/>
              <a:t>getMDSOR</a:t>
            </a:r>
            <a:r>
              <a:rPr lang="en-US" sz="1200" dirty="0"/>
              <a:t>") MDSOR  </a:t>
            </a:r>
            <a:r>
              <a:rPr lang="en-US" sz="1200" dirty="0" err="1"/>
              <a:t>mdsor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@Builder.ObtainVia(method = "</a:t>
            </a:r>
            <a:r>
              <a:rPr lang="en-US" sz="1200" dirty="0" err="1"/>
              <a:t>getCatalogIdentifier</a:t>
            </a:r>
            <a:r>
              <a:rPr lang="en-US" sz="1200" dirty="0"/>
              <a:t>") String </a:t>
            </a:r>
            <a:r>
              <a:rPr lang="en-US" sz="1200" dirty="0" err="1"/>
              <a:t>catalogIdentifier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String description,</a:t>
            </a:r>
          </a:p>
          <a:p>
            <a:r>
              <a:rPr lang="en-US" sz="1200" dirty="0"/>
              <a:t>            String </a:t>
            </a:r>
            <a:r>
              <a:rPr lang="en-US" sz="1200" dirty="0" err="1"/>
              <a:t>linkedEntity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String title,</a:t>
            </a:r>
          </a:p>
          <a:p>
            <a:r>
              <a:rPr lang="en-US" sz="1200" dirty="0"/>
              <a:t>            Boolean </a:t>
            </a:r>
            <a:r>
              <a:rPr lang="en-US" sz="1200" dirty="0" err="1"/>
              <a:t>isInternal</a:t>
            </a:r>
            <a:r>
              <a:rPr lang="en-US" sz="1200" dirty="0"/>
              <a:t>) {</a:t>
            </a:r>
          </a:p>
          <a:p>
            <a:r>
              <a:rPr lang="en-US" sz="1200" dirty="0"/>
              <a:t>        super(identifier, </a:t>
            </a:r>
            <a:r>
              <a:rPr lang="en-US" sz="1200" dirty="0" err="1"/>
              <a:t>varArgs</a:t>
            </a:r>
            <a:r>
              <a:rPr lang="en-US" sz="1200" dirty="0"/>
              <a:t>, </a:t>
            </a:r>
            <a:r>
              <a:rPr lang="en-US" sz="1200" dirty="0" err="1"/>
              <a:t>mdsor</a:t>
            </a:r>
            <a:r>
              <a:rPr lang="en-US" sz="1200" dirty="0"/>
              <a:t>, </a:t>
            </a:r>
            <a:r>
              <a:rPr lang="en-US" sz="1200" dirty="0" err="1"/>
              <a:t>catalogIdentifier</a:t>
            </a:r>
            <a:r>
              <a:rPr lang="en-US" sz="1200" dirty="0"/>
              <a:t>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this.description</a:t>
            </a:r>
            <a:r>
              <a:rPr lang="en-US" sz="1200" dirty="0"/>
              <a:t> = description;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this.linkedEntity</a:t>
            </a:r>
            <a:r>
              <a:rPr lang="en-US" sz="1200" dirty="0"/>
              <a:t> = </a:t>
            </a:r>
            <a:r>
              <a:rPr lang="en-US" sz="1200" dirty="0" err="1"/>
              <a:t>linkedEntity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this.title</a:t>
            </a:r>
            <a:r>
              <a:rPr lang="en-US" sz="1200" dirty="0"/>
              <a:t> = title;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this.isInternal</a:t>
            </a:r>
            <a:r>
              <a:rPr lang="en-US" sz="1200" dirty="0"/>
              <a:t> = </a:t>
            </a:r>
            <a:r>
              <a:rPr lang="en-US" sz="1200" dirty="0" err="1"/>
              <a:t>isInternal</a:t>
            </a:r>
            <a:r>
              <a:rPr lang="en-US" sz="1200" dirty="0"/>
              <a:t>;</a:t>
            </a:r>
          </a:p>
          <a:p>
            <a:r>
              <a:rPr lang="en-US" sz="12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7241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3262C7-E68F-DB61-4F42-C50F37FEAF7A}"/>
              </a:ext>
            </a:extLst>
          </p:cNvPr>
          <p:cNvSpPr txBox="1"/>
          <p:nvPr/>
        </p:nvSpPr>
        <p:spPr>
          <a:xfrm>
            <a:off x="907742" y="35243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Roboto" panose="02000000000000000000" pitchFamily="2" charset="0"/>
              </a:rPr>
              <a:t>View Catalogs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28E2B-D3EE-D33C-9B38-7064ED028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23026"/>
              </p:ext>
            </p:extLst>
          </p:nvPr>
        </p:nvGraphicFramePr>
        <p:xfrm>
          <a:off x="668106" y="1463020"/>
          <a:ext cx="52451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924">
                  <a:extLst>
                    <a:ext uri="{9D8B030D-6E8A-4147-A177-3AD203B41FA5}">
                      <a16:colId xmlns:a16="http://schemas.microsoft.com/office/drawing/2014/main" val="1989727775"/>
                    </a:ext>
                  </a:extLst>
                </a:gridCol>
                <a:gridCol w="2322694">
                  <a:extLst>
                    <a:ext uri="{9D8B030D-6E8A-4147-A177-3AD203B41FA5}">
                      <a16:colId xmlns:a16="http://schemas.microsoft.com/office/drawing/2014/main" val="376538244"/>
                    </a:ext>
                  </a:extLst>
                </a:gridCol>
                <a:gridCol w="1018558">
                  <a:extLst>
                    <a:ext uri="{9D8B030D-6E8A-4147-A177-3AD203B41FA5}">
                      <a16:colId xmlns:a16="http://schemas.microsoft.com/office/drawing/2014/main" val="3330989069"/>
                    </a:ext>
                  </a:extLst>
                </a:gridCol>
                <a:gridCol w="1116924">
                  <a:extLst>
                    <a:ext uri="{9D8B030D-6E8A-4147-A177-3AD203B41FA5}">
                      <a16:colId xmlns:a16="http://schemas.microsoft.com/office/drawing/2014/main" val="393869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identifier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@id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isInternal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description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295452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 catalog of common market  data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FALSE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common/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4517562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 catalog of MDSOR  sample data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FALSE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mdSORdemo/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828047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 catalog of MDSOR specific to Vasara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5289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91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518</Words>
  <Application>Microsoft Office PowerPoint</Application>
  <PresentationFormat>Widescreen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Monaspace Neon</vt:lpstr>
      <vt:lpstr>Roboto</vt:lpstr>
      <vt:lpstr>Roboto Mono</vt:lpstr>
      <vt:lpstr>Office Theme</vt:lpstr>
      <vt:lpstr>PowerPoint Presentation</vt:lpstr>
      <vt:lpstr>                                   MDSOR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CHOUKRI ABDELILAH</dc:creator>
  <cp:lastModifiedBy>CHOUKRI ABDELILAH</cp:lastModifiedBy>
  <cp:revision>1</cp:revision>
  <dcterms:created xsi:type="dcterms:W3CDTF">2025-08-17T13:25:49Z</dcterms:created>
  <dcterms:modified xsi:type="dcterms:W3CDTF">2025-08-18T01:14:17Z</dcterms:modified>
</cp:coreProperties>
</file>